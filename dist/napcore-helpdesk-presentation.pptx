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NAPCORE Helpdesk: requirements and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Draft</a:t>
            </a:r>
            <a:br/>
            <a:br/>
            <a:r>
              <a:rPr/>
              <a:t>NAPCORE Helpdesk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Need a trusted answer layer for multimodal standards implementation.</a:t>
            </a:r>
          </a:p>
          <a:p>
            <a:pPr lvl="0"/>
            <a:r>
              <a:rPr/>
              <a:t>Main risk is fast but uncited guidance that creates delivery risk.</a:t>
            </a:r>
          </a:p>
          <a:p>
            <a:pPr lvl="0"/>
            <a:r>
              <a:rPr/>
              <a:t>Goal is practical answers with traceable references and controlled escalation.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Stakeholders And System Context (C4 Level 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stakeholder groups share one helpdesk interface:</a:t>
            </a:r>
          </a:p>
          <a:p>
            <a:pPr lvl="0"/>
            <a:r>
              <a:rPr/>
              <a:t>PTO (Public Transport Operator) — responsible for daily service delivery.</a:t>
            </a:r>
          </a:p>
          <a:p>
            <a:pPr lvl="0"/>
            <a:r>
              <a:rPr/>
              <a:t>PTA (Public Transport Authority) — sets policy and compliance standards.</a:t>
            </a:r>
          </a:p>
          <a:p>
            <a:pPr lvl="0"/>
            <a:r>
              <a:rPr/>
              <a:t>Developer — implements integrations and APIs.</a:t>
            </a:r>
          </a:p>
          <a:p>
            <a:pPr lvl="0"/>
            <a:r>
              <a:rPr/>
              <a:t>ITS System Integrator — connects helpdesk to broader mobility ecosystem.</a:t>
            </a:r>
          </a:p>
          <a:p>
            <a:pPr lvl="0"/>
            <a:r>
              <a:rPr/>
              <a:t>Ticketing Agent — manages passenger-facing systems.</a:t>
            </a:r>
          </a:p>
          <a:p>
            <a:pPr lvl="0" indent="0" marL="0">
              <a:buNone/>
            </a:pPr>
            <a:r>
              <a:rPr b="1"/>
              <a:t>External systems:</a:t>
            </a:r>
          </a:p>
          <a:p>
            <a:pPr lvl="0"/>
            <a:r>
              <a:rPr/>
              <a:t>Approved GitHub repositories (NeTEx-CEN/NeTEx) — knowledge source.</a:t>
            </a:r>
          </a:p>
          <a:p>
            <a:pPr lvl="0"/>
            <a:r>
              <a:rPr/>
              <a:t>LLM provider — optional grounded generation path.</a:t>
            </a:r>
          </a:p>
        </p:txBody>
      </p:sp>
      <p:pic>
        <p:nvPicPr>
          <p:cNvPr descr="docs/architecture/c4-system-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60800" y="203200"/>
            <a:ext cx="4508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Standards: Transmodel, NeTEx, SIRI, OJP/OpRa, DATEX II.</a:t>
            </a:r>
          </a:p>
          <a:p>
            <a:pPr lvl="0"/>
            <a:r>
              <a:rPr/>
              <a:t>Priority source: NeTEx-CEN/NeTEx and approved companion repositories.</a:t>
            </a:r>
          </a:p>
          <a:p>
            <a:pPr lvl="0"/>
            <a:r>
              <a:rPr/>
              <a:t>Surfaces: separate user route (</a:t>
            </a:r>
            <a:r>
              <a:rPr>
                <a:latin typeface="Courier"/>
              </a:rPr>
              <a:t>/user</a:t>
            </a:r>
            <a:r>
              <a:rPr/>
              <a:t>) and operator route (</a:t>
            </a:r>
            <a:r>
              <a:rPr>
                <a:latin typeface="Courier"/>
              </a:rPr>
              <a:t>/operator</a:t>
            </a:r>
            <a:r>
              <a:rPr/>
              <a:t>) over one shared backend shell.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FAQ-first with RAG fallback.</a:t>
            </a:r>
            <a:r>
              <a:rPr baseline="30000">
                <a:hlinkClick r:id="rId2" action="ppaction://hlinksldjump"/>
              </a:rPr>
              <a:t>1</a:t>
            </a:r>
          </a:p>
          <a:p>
            <a:pPr lvl="0"/>
            <a:r>
              <a:rPr/>
              <a:t>FAQ-first: return approved answers when confidence is high.</a:t>
            </a:r>
          </a:p>
          <a:p>
            <a:pPr lvl="0"/>
            <a:r>
              <a:rPr/>
              <a:t>RAG fallback: retrieve source chunks, then generate a grounded answer.</a:t>
            </a:r>
          </a:p>
          <a:p>
            <a:pPr lvl="0"/>
            <a:r>
              <a:rPr/>
              <a:t>Generation profiles:</a:t>
            </a:r>
          </a:p>
          <a:p>
            <a:pPr lvl="1"/>
            <a:r>
              <a:rPr>
                <a:latin typeface="Courier"/>
              </a:rPr>
              <a:t>deterministic-grounded</a:t>
            </a:r>
            <a:r>
              <a:rPr/>
              <a:t> (active): question-adaptive deterministic templates with retrieval-score confidence.</a:t>
            </a:r>
          </a:p>
          <a:p>
            <a:pPr lvl="1"/>
            <a:r>
              <a:rPr>
                <a:latin typeface="Courier"/>
              </a:rPr>
              <a:t>llm-ready</a:t>
            </a:r>
            <a:r>
              <a:rPr/>
              <a:t> (optional): retrieved chunks passed to LLM synthesis when enabled.</a:t>
            </a:r>
          </a:p>
          <a:p>
            <a:pPr lvl="0"/>
            <a:r>
              <a:rPr/>
              <a:t>If evidence is weak, abstain explicitly.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Requirements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FR-001: question answering through the helpdesk UI.</a:t>
            </a:r>
          </a:p>
          <a:p>
            <a:pPr lvl="0"/>
            <a:r>
              <a:rPr/>
              <a:t>FR-004: ingestion and indexing of approved GitHub sources.</a:t>
            </a:r>
          </a:p>
          <a:p>
            <a:pPr lvl="0"/>
            <a:r>
              <a:rPr/>
              <a:t>FR-005: retrieval and grounded generation.</a:t>
            </a:r>
          </a:p>
          <a:p>
            <a:pPr lvl="0"/>
            <a:r>
              <a:rPr/>
              <a:t>FR-006: anti-hallucination and boundary enforcement.</a:t>
            </a:r>
          </a:p>
          <a:p>
            <a:pPr lvl="0"/>
            <a:r>
              <a:rPr/>
              <a:t>FR-002 and FR-003: editorial curation and FAQ promotion.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Product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Frontend now exposes separate routed surfaces for user chat and operator console.</a:t>
            </a:r>
          </a:p>
          <a:p>
            <a:pPr lvl="0"/>
            <a:r>
              <a:rPr/>
              <a:t>Backend supports deterministic grounded generation and an optional LLM-ready mode.</a:t>
            </a:r>
          </a:p>
          <a:p>
            <a:pPr lvl="0"/>
            <a:r>
              <a:rPr/>
              <a:t>Knowledge index is built from approved repositories and selected companion repositories.</a:t>
            </a:r>
          </a:p>
          <a:p>
            <a:pPr lvl="0"/>
            <a:r>
              <a:rPr/>
              <a:t>Shared connection state keeps auth and backend targeting consistent across both routes.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Current Chat 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User route and operator route are shown in full-size screenshots.</a:t>
            </a:r>
          </a:p>
          <a:p>
            <a:pPr lvl="0"/>
            <a:r>
              <a:rPr/>
              <a:t>Connection fields are intentionally blank for presentation clarity.</a:t>
            </a:r>
          </a:p>
        </p:txBody>
      </p:sp>
      <p:pic>
        <p:nvPicPr>
          <p:cNvPr descr="docs/presentation/assets/user-chat-empty-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cs/presentation/assets/operator-console-empty-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 And Delivery Artifacts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Functional requirements, testing pack, and local run guide.</a:t>
            </a:r>
          </a:p>
          <a:p>
            <a:pPr lvl="0"/>
            <a:r>
              <a:rPr/>
              <a:t>RAG architecture and updated C4 architecture documents.</a:t>
            </a:r>
          </a:p>
          <a:p>
            <a:pPr lvl="0"/>
            <a:r>
              <a:rPr/>
              <a:t>Technology baseline: Django 5 + DRF backend, React/Vite frontend.</a:t>
            </a:r>
          </a:p>
          <a:p>
            <a:pPr lvl="0"/>
            <a:r>
              <a:rPr/>
              <a:t>Separate routed user/operator UX and deterministic grounded answering.</a:t>
            </a:r>
          </a:p>
          <a:p>
            <a:pPr lvl="0"/>
            <a:r>
              <a:rPr/>
              <a:t>PlantUML and exported SVG architecture assets for reproducible documentation.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Complete pilot testing across user chat, operator flow, and promotion workflow.</a:t>
            </a:r>
          </a:p>
          <a:p>
            <a:pPr lvl="0" indent="-342900" marL="342900">
              <a:buAutoNum type="arabicPeriod"/>
            </a:pPr>
            <a:r>
              <a:rPr/>
              <a:t>Evaluate deterministic mode outcomes against grounded LLM mode on the same question set.</a:t>
            </a:r>
          </a:p>
          <a:p>
            <a:pPr lvl="0" indent="-342900" marL="342900">
              <a:buAutoNum type="arabicPeriod"/>
            </a:pPr>
            <a:r>
              <a:rPr/>
              <a:t>Finalize repository ingestion profiles and production hardening backlog.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Appendix: Example Questions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 1:</a:t>
            </a:r>
            <a:r>
              <a:rPr/>
              <a:t> How to use NeTEx for exchanging a timetable?</a:t>
            </a:r>
          </a:p>
        </p:txBody>
      </p:sp>
      <p:pic>
        <p:nvPicPr>
          <p:cNvPr descr="docs/presentation/assets/question-timet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 2:</a:t>
            </a:r>
            <a:r>
              <a:rPr/>
              <a:t> How to implement IDs for a Stop Place registry?</a:t>
            </a:r>
          </a:p>
        </p:txBody>
      </p:sp>
      <p:pic>
        <p:nvPicPr>
          <p:cNvPr descr="docs/presentation/assets/question-stop-place-i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RAG fallback means that when no high-confidence FAQ answer is available, the system retrieves relevant source chunks from approved repositories and generates an answer grounded in that retrieved evidence. In deterministic mode this is template-driven and score-based; in LLM-ready mode retrieved chunks are synthesized by the LLM while remaining evidence-bound.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NAPCORE Helpdesk: requirements and development</dc:title>
  <dc:creator>NAPCORE Helpdesk Team</dc:creator>
  <cp:keywords/>
  <dcterms:created xsi:type="dcterms:W3CDTF">2026-03-29T16:18:31Z</dcterms:created>
  <dcterms:modified xsi:type="dcterms:W3CDTF">2026-03-29T16:18:31Z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lorlinks">
    <vt:lpwstr>True</vt:lpwstr>
  </property>
  <property fmtid="{D5CDD505-2E9C-101B-9397-08002B2CF9AE}" pid="3" name="date">
    <vt:lpwstr>2026-03-29</vt:lpwstr>
  </property>
  <property fmtid="{D5CDD505-2E9C-101B-9397-08002B2CF9AE}" pid="4" name="subtitle">
    <vt:lpwstr>Presentation Draft</vt:lpwstr>
  </property>
</Properties>
</file>