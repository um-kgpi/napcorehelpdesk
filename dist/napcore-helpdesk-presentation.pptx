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2" Type="http://schemas.openxmlformats.org/officeDocument/2006/relationships/viewProps" Target="viewProps.xml" /><Relationship Id="rId21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4" Type="http://schemas.openxmlformats.org/officeDocument/2006/relationships/tableStyles" Target="tableStyles.xml" /><Relationship Id="rId23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1.png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slide" Target="slide19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2.png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NAPCORE Helpdesk: From Search To Grounded Chat Helpdesk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Presentation Draft</a:t>
            </a:r>
            <a:br/>
            <a:br/>
            <a:r>
              <a:rPr/>
              <a:t>NAPCORE Helpdesk Team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2026-03-28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Problem And Goal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Need a trusted answer layer for multimodal standards implementation.</a:t>
            </a:r>
          </a:p>
          <a:p>
            <a:pPr lvl="0"/>
            <a:r>
              <a:rPr/>
              <a:t>Main risk is fast but uncited guidance that creates delivery risk.</a:t>
            </a:r>
          </a:p>
          <a:p>
            <a:pPr lvl="0"/>
            <a:r>
              <a:rPr/>
              <a:t>Goal is practical answers with traceable references and controlled escalation.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System Context (C4 Level 1)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Five stakeholder groups share one helpdesk interface:</a:t>
            </a:r>
          </a:p>
          <a:p>
            <a:pPr lvl="0"/>
            <a:r>
              <a:rPr/>
              <a:t>PTO (Public Transport Operator) — responsible for daily service delivery</a:t>
            </a:r>
          </a:p>
          <a:p>
            <a:pPr lvl="0"/>
            <a:r>
              <a:rPr/>
              <a:t>PTA (Public Transport Authority) — sets policy and compliance standards</a:t>
            </a:r>
          </a:p>
          <a:p>
            <a:pPr lvl="0"/>
            <a:r>
              <a:rPr/>
              <a:t>Developer — implements integrations and APIs</a:t>
            </a:r>
          </a:p>
          <a:p>
            <a:pPr lvl="0"/>
            <a:r>
              <a:rPr/>
              <a:t>ITS System Integrator — connects helpdesk to broader mobility ecosystem</a:t>
            </a:r>
          </a:p>
          <a:p>
            <a:pPr lvl="0"/>
            <a:r>
              <a:rPr/>
              <a:t>Ticketing Agent — manages passenger-facing systems</a:t>
            </a:r>
          </a:p>
          <a:p>
            <a:pPr lvl="0" indent="0" marL="0">
              <a:buNone/>
            </a:pPr>
            <a:r>
              <a:rPr b="1"/>
              <a:t>External systems:</a:t>
            </a:r>
          </a:p>
          <a:p>
            <a:pPr lvl="0"/>
            <a:r>
              <a:rPr/>
              <a:t>Approved GitHub repositories (NeTEx-CEN/NeTEx) — knowledge source</a:t>
            </a:r>
          </a:p>
          <a:p>
            <a:pPr lvl="0"/>
            <a:r>
              <a:rPr/>
              <a:t>LLM provider — grounded generation only; no unconstrained model memory</a:t>
            </a:r>
          </a:p>
          <a:p>
            <a:pPr lvl="0" indent="0" marL="0">
              <a:buNone/>
            </a:pPr>
            <a:r>
              <a:rPr b="1"/>
              <a:t>Key architectural constraint:</a:t>
            </a:r>
          </a:p>
          <a:p>
            <a:pPr lvl="0"/>
            <a:r>
              <a:rPr/>
              <a:t>All answers sourced from approved repositories only.</a:t>
            </a:r>
          </a:p>
          <a:p>
            <a:pPr lvl="0"/>
            <a:r>
              <a:rPr/>
              <a:t>If evidence is insufficient, the system abstains rather than speculating.</a:t>
            </a:r>
          </a:p>
        </p:txBody>
      </p:sp>
      <p:pic>
        <p:nvPicPr>
          <p:cNvPr descr="docs/architecture/c4-system-context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127500" y="203200"/>
            <a:ext cx="3987800" cy="3873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3568700" y="4076700"/>
            <a:ext cx="51054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C4 System Context Diagram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Scope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Standards: Transmodel, NeTEx, SIRI, OJP/OpRa, DATEX II.</a:t>
            </a:r>
          </a:p>
          <a:p>
            <a:pPr lvl="0"/>
            <a:r>
              <a:rPr/>
              <a:t>Priority source: NeTEx-CEN/NeTEx and approved companion repositories.</a:t>
            </a:r>
          </a:p>
          <a:p>
            <a:pPr lvl="0"/>
            <a:r>
              <a:rPr/>
              <a:t>Demo surfaces are now split into </a:t>
            </a:r>
            <a:r>
              <a:rPr>
                <a:latin typeface="Courier"/>
              </a:rPr>
              <a:t>/user</a:t>
            </a:r>
            <a:r>
              <a:rPr/>
              <a:t> and </a:t>
            </a:r>
            <a:r>
              <a:rPr>
                <a:latin typeface="Courier"/>
              </a:rPr>
              <a:t>/operator</a:t>
            </a:r>
            <a:r>
              <a:rPr/>
              <a:t> routes over one shared backend/session shell.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Evolution Of Helpdesk Implementations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Stage 1: keyword search over standards documents.</a:t>
            </a:r>
          </a:p>
          <a:p>
            <a:pPr lvl="0"/>
            <a:r>
              <a:rPr/>
              <a:t>Stage 2: grounded Q and A with FAQ-first orchestration.</a:t>
            </a:r>
          </a:p>
          <a:p>
            <a:pPr lvl="0"/>
            <a:r>
              <a:rPr/>
              <a:t>Stage 3: editorial workflow, routing, and KPI visibility.</a:t>
            </a:r>
          </a:p>
          <a:p>
            <a:pPr lvl="0"/>
            <a:r>
              <a:rPr/>
              <a:t>Stage 4: chat-style sessions ready for deterministic and LLM-backed generation.</a:t>
            </a:r>
          </a:p>
          <a:p>
            <a:pPr lvl="0"/>
            <a:r>
              <a:rPr/>
              <a:t>The trust model stays fixed: allow-listed repositories, citations, and review gates.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Why The Evolution Matters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Search helps lookup, but not decision-ready guidance.</a:t>
            </a:r>
          </a:p>
          <a:p>
            <a:pPr lvl="0"/>
            <a:r>
              <a:rPr/>
              <a:t>FAQ-first gives low-latency canonical answers for recurring issues.</a:t>
            </a:r>
          </a:p>
          <a:p>
            <a:pPr lvl="0"/>
            <a:r>
              <a:rPr/>
              <a:t>Editorial workflow converts runtime demand into governed knowledge.</a:t>
            </a:r>
          </a:p>
          <a:p>
            <a:pPr lvl="0"/>
            <a:r>
              <a:rPr/>
              <a:t>Chat sessions improve usability without weakening provenance.</a:t>
            </a:r>
          </a:p>
          <a:p>
            <a:pPr lvl="0"/>
            <a:r>
              <a:rPr/>
              <a:t>Companion repositories expand coverage without relaxing the trust boundary.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Core Approach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FAQ-first with RAG fallback.</a:t>
            </a:r>
            <a:r>
              <a:rPr baseline="30000">
                <a:hlinkClick r:id="rId2" action="ppaction://hlinksldjump"/>
              </a:rPr>
              <a:t>1</a:t>
            </a:r>
          </a:p>
          <a:p>
            <a:pPr lvl="0"/>
            <a:r>
              <a:rPr/>
              <a:t>FAQ-first: return approved answers when confidence is high.</a:t>
            </a:r>
          </a:p>
          <a:p>
            <a:pPr lvl="0"/>
            <a:r>
              <a:rPr/>
              <a:t>RAG fallback: retrieve source chunks, then generate a grounded answer (deterministic templates now, LLM synthesis when enabled).</a:t>
            </a:r>
          </a:p>
          <a:p>
            <a:pPr lvl="0"/>
            <a:r>
              <a:rPr/>
              <a:t>Generation profiles: deterministic-grounded now, LLM-ready when configured.</a:t>
            </a:r>
          </a:p>
          <a:p>
            <a:pPr lvl="0"/>
            <a:r>
              <a:rPr/>
              <a:t>If evidence is weak, abstain explicitly.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Trust And Safety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Repository allowlist enforces the knowledge boundary.</a:t>
            </a:r>
          </a:p>
          <a:p>
            <a:pPr lvl="0"/>
            <a:r>
              <a:rPr/>
              <a:t>Generation is limited to retrieved evidence.</a:t>
            </a:r>
          </a:p>
          <a:p>
            <a:pPr lvl="0"/>
            <a:r>
              <a:rPr/>
              <a:t>Citation gate blocks uncited publication.</a:t>
            </a:r>
          </a:p>
          <a:p>
            <a:pPr lvl="0"/>
            <a:r>
              <a:rPr/>
              <a:t>Editorial gate controls draft, review, approve, and publish states.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Functional Requirements Highlights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FR-001: question answering through the helpdesk UI.</a:t>
            </a:r>
          </a:p>
          <a:p>
            <a:pPr lvl="0"/>
            <a:r>
              <a:rPr/>
              <a:t>FR-004: ingestion and indexing of approved GitHub sources.</a:t>
            </a:r>
          </a:p>
          <a:p>
            <a:pPr lvl="0"/>
            <a:r>
              <a:rPr/>
              <a:t>FR-005: retrieval and grounded generation.</a:t>
            </a:r>
          </a:p>
          <a:p>
            <a:pPr lvl="0"/>
            <a:r>
              <a:rPr/>
              <a:t>FR-006: anti-hallucination and boundary enforcement.</a:t>
            </a:r>
          </a:p>
          <a:p>
            <a:pPr lvl="0"/>
            <a:r>
              <a:rPr/>
              <a:t>FR-002 and FR-003: editorial curation and FAQ promotion.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Data Model Logic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Source governance: approved_repositories -&gt; source_documents -&gt; source_chunks.</a:t>
            </a:r>
          </a:p>
          <a:p>
            <a:pPr lvl="0"/>
            <a:r>
              <a:rPr/>
              <a:t>FAQ lifecycle: faq_entries -&gt; faq_versions -&gt; review_events.</a:t>
            </a:r>
          </a:p>
          <a:p>
            <a:pPr lvl="0"/>
            <a:r>
              <a:rPr/>
              <a:t>Runtime telemetry: question_events -&gt; retrieval_events.</a:t>
            </a:r>
          </a:p>
          <a:p>
            <a:pPr lvl="0"/>
            <a:r>
              <a:rPr/>
              <a:t>Evidence mapping: answer_evidence_links ties answers to source chunks.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User Experience Flow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User opens </a:t>
            </a:r>
            <a:r>
              <a:rPr>
                <a:latin typeface="Courier"/>
              </a:rPr>
              <a:t>/user</a:t>
            </a:r>
            <a:r>
              <a:rPr/>
              <a:t> for conversation or </a:t>
            </a:r>
            <a:r>
              <a:rPr>
                <a:latin typeface="Courier"/>
              </a:rPr>
              <a:t>/operator</a:t>
            </a:r>
            <a:r>
              <a:rPr/>
              <a:t> for operational review.</a:t>
            </a:r>
          </a:p>
          <a:p>
            <a:pPr lvl="0"/>
            <a:r>
              <a:rPr/>
              <a:t>System attempts FAQ match first.</a:t>
            </a:r>
          </a:p>
          <a:p>
            <a:pPr lvl="0"/>
            <a:r>
              <a:rPr/>
              <a:t>On miss or low confidence, the system executes retrieval plus grounded generation.</a:t>
            </a:r>
          </a:p>
          <a:p>
            <a:pPr lvl="0"/>
            <a:r>
              <a:rPr/>
              <a:t>Response includes references, confidence, and request trace.</a:t>
            </a:r>
          </a:p>
          <a:p>
            <a:pPr lvl="0"/>
            <a:r>
              <a:rPr/>
              <a:t>Session history supports iterative questioning without losing provenance.</a:t>
            </a:r>
          </a:p>
          <a:p>
            <a:pPr lvl="0"/>
            <a:r>
              <a:rPr/>
              <a:t>Feedback and editorial routing support continuous improvement.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Current Product State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Frontend now exposes separate routed surfaces for user chat and operator console.</a:t>
            </a:r>
          </a:p>
          <a:p>
            <a:pPr lvl="0"/>
            <a:r>
              <a:rPr/>
              <a:t>Backend supports deterministic grounded generation and an optional LLM-ready mode.</a:t>
            </a:r>
          </a:p>
          <a:p>
            <a:pPr lvl="0"/>
            <a:r>
              <a:rPr/>
              <a:t>Knowledge index is built from approved repositories and selected companion repositories.</a:t>
            </a:r>
          </a:p>
          <a:p>
            <a:pPr lvl="0"/>
            <a:r>
              <a:rPr/>
              <a:t>Shared connection state keeps auth and backend targeting consistent across both routes.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Current Chat UX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/>
            <a:r>
              <a:rPr/>
              <a:t>Live </a:t>
            </a:r>
            <a:r>
              <a:rPr>
                <a:latin typeface="Courier"/>
              </a:rPr>
              <a:t>/user</a:t>
            </a:r>
            <a:r>
              <a:rPr/>
              <a:t> chat route with per-turn evidence, confidence, and request trace.</a:t>
            </a:r>
          </a:p>
          <a:p>
            <a:pPr lvl="0"/>
            <a:r>
              <a:rPr/>
              <a:t>Separate </a:t>
            </a:r>
            <a:r>
              <a:rPr>
                <a:latin typeface="Courier"/>
              </a:rPr>
              <a:t>/operator</a:t>
            </a:r>
            <a:r>
              <a:rPr/>
              <a:t> route handles orchestration, board, KPI, and editorial actions.</a:t>
            </a:r>
          </a:p>
        </p:txBody>
      </p:sp>
      <p:pic>
        <p:nvPicPr>
          <p:cNvPr descr="docs/presentation/assets/chat-session-ui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568700" y="952500"/>
            <a:ext cx="5105400" cy="2870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Operations And Governance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Reviewer decisions are logged and auditable.</a:t>
            </a:r>
          </a:p>
          <a:p>
            <a:pPr lvl="0"/>
            <a:r>
              <a:rPr/>
              <a:t>Editorial operations run through Django Admin.</a:t>
            </a:r>
          </a:p>
          <a:p>
            <a:pPr lvl="0"/>
            <a:r>
              <a:rPr/>
              <a:t>Recurring intents are promoted into curated FAQ backlog.</a:t>
            </a:r>
          </a:p>
          <a:p>
            <a:pPr lvl="0"/>
            <a:r>
              <a:rPr/>
              <a:t>Re-indexing handles source and standards updates.</a:t>
            </a:r>
          </a:p>
          <a:p>
            <a:pPr lvl="0"/>
            <a:r>
              <a:rPr/>
              <a:t>Metrics monitor quality and safety continuously.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MVP Success Metrics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Citation coverage for published FAQs: 100%.</a:t>
            </a:r>
          </a:p>
          <a:p>
            <a:pPr lvl="0"/>
            <a:r>
              <a:rPr/>
              <a:t>Unsupported-claim publication rate: 0%.</a:t>
            </a:r>
          </a:p>
          <a:p>
            <a:pPr lvl="0"/>
            <a:r>
              <a:rPr/>
              <a:t>P95 latency: &lt;= 8 seconds.</a:t>
            </a:r>
          </a:p>
          <a:p>
            <a:pPr lvl="0"/>
            <a:r>
              <a:rPr/>
              <a:t>Retrieval success on covered intents: &gt;= 90%.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Current Artifacts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Functional requirements, testing pack, and local run guide.</a:t>
            </a:r>
          </a:p>
          <a:p>
            <a:pPr lvl="0"/>
            <a:r>
              <a:rPr/>
              <a:t>RAG architecture, database logic, and updated C4 architecture documents.</a:t>
            </a:r>
          </a:p>
          <a:p>
            <a:pPr lvl="0"/>
            <a:r>
              <a:rPr/>
              <a:t>Technology baseline: Django 5 + DRF backend, React/Vite frontend, editorial workflow.</a:t>
            </a:r>
          </a:p>
          <a:p>
            <a:pPr lvl="0"/>
            <a:r>
              <a:rPr/>
              <a:t>Separate routed user/operator UX, deterministic grounded answering, and LLM-ready generation adapter.</a:t>
            </a:r>
          </a:p>
          <a:p>
            <a:pPr lvl="0"/>
            <a:r>
              <a:rPr/>
              <a:t>PlantUML and exported SVG architecture assets for reproducible documentation.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Next Steps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-342900" marL="342900">
              <a:buAutoNum type="arabicPeriod"/>
            </a:pPr>
            <a:r>
              <a:rPr/>
              <a:t>Complete pilot testing across chat UX, editorial workflow, and promotion flows.</a:t>
            </a:r>
          </a:p>
          <a:p>
            <a:pPr lvl="0" indent="-342900" marL="342900">
              <a:buAutoNum type="arabicPeriod"/>
            </a:pPr>
            <a:r>
              <a:rPr/>
              <a:t>Enable and evaluate grounded LLM mode against deterministic fallback behavior.</a:t>
            </a:r>
          </a:p>
          <a:p>
            <a:pPr lvl="0" indent="-342900" marL="342900">
              <a:buAutoNum type="arabicPeriod"/>
            </a:pPr>
            <a:r>
              <a:rPr/>
              <a:t>Refine ingestion profiles for companion repositories and standards-specific scopes.</a:t>
            </a:r>
          </a:p>
          <a:p>
            <a:pPr lvl="0" indent="-342900" marL="342900">
              <a:buAutoNum type="arabicPeriod"/>
            </a:pPr>
            <a:r>
              <a:rPr/>
              <a:t>Use pilot evidence to decide production hardening and deployment model.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Appendix: Example Questions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How to use NeTEx for exchanging a timetable?</a:t>
            </a:r>
          </a:p>
          <a:p>
            <a:pPr lvl="0"/>
            <a:r>
              <a:rPr/>
              <a:t>How to implement IDs for a Stop Place registry?</a:t>
            </a:r>
          </a:p>
          <a:p>
            <a:pPr lvl="0" indent="0" marL="0">
              <a:buNone/>
            </a:pPr>
            <a:r>
              <a:rPr/>
              <a:t>Expected outputs: - practical implementation guidance, - explicit citations, - abstention where evidence is insufficient.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Notes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sz="1800"/>
              <a:t>1. In a helpdesk or FAQ system, a RAG fallback (Retrieval‑Augmented Generation) happens when the system cannot find a good direct match (e.g., exact FAQ answer). It then falls back to RAG: retrieves the most relevant documents from approved sources, and generates an answer grounded in that retrieved context. The generation method depends on the profile: (1) </a:t>
            </a:r>
            <a:r>
              <a:rPr sz="1800" b="1"/>
              <a:t>Deterministic mode</a:t>
            </a:r>
            <a:r>
              <a:rPr sz="1800"/>
              <a:t> (now): uses pattern-matched templates adapted to the question, with confidence based on retrieval scores. (2) </a:t>
            </a:r>
            <a:r>
              <a:rPr sz="1800" b="1"/>
              <a:t>LLM-ready mode</a:t>
            </a:r>
            <a:r>
              <a:rPr sz="1800"/>
              <a:t> (future): feeds retrieved chunks to an LLM for synthesis. Both approaches prevent hallucination by grounding answers in real retrieved text.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NAPCORE Helpdesk: From Search To Grounded Chat Helpdesk</dc:title>
  <dc:creator>NAPCORE Helpdesk Team</dc:creator>
  <cp:keywords/>
  <dcterms:created xsi:type="dcterms:W3CDTF">2026-03-29T15:52:55Z</dcterms:created>
  <dcterms:modified xsi:type="dcterms:W3CDTF">2026-03-29T15:52:55Z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lorlinks">
    <vt:lpwstr>True</vt:lpwstr>
  </property>
  <property fmtid="{D5CDD505-2E9C-101B-9397-08002B2CF9AE}" pid="3" name="date">
    <vt:lpwstr>2026-03-28</vt:lpwstr>
  </property>
  <property fmtid="{D5CDD505-2E9C-101B-9397-08002B2CF9AE}" pid="4" name="subtitle">
    <vt:lpwstr>Presentation Draft</vt:lpwstr>
  </property>
</Properties>
</file>